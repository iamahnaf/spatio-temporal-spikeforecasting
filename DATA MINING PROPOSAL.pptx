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6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17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9E058-CBEB-4A58-8714-9406FB86EEF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EF970-E841-4498-8536-E129E210BE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22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EF970-E841-4498-8536-E129E210BE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884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BE6A3-3EED-F4D3-A234-0481646A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23ACCA-EF0C-A0B1-F219-8100375B1B46}"/>
              </a:ext>
            </a:extLst>
          </p:cNvPr>
          <p:cNvSpPr txBox="1"/>
          <p:nvPr/>
        </p:nvSpPr>
        <p:spPr>
          <a:xfrm>
            <a:off x="2261173" y="3240134"/>
            <a:ext cx="7669653" cy="377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853"/>
                </a:solidFill>
                <a:latin typeface="Calibri"/>
              </a:defRPr>
            </a:pPr>
            <a:r>
              <a:rPr lang="en-US" sz="3600" dirty="0"/>
              <a:t>WELCOME TO OUR PRESENTAION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3473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285628" y="852895"/>
            <a:ext cx="1620744" cy="320040"/>
          </a:xfrm>
          <a:prstGeom prst="roundRect">
            <a:avLst>
              <a:gd name="adj" fmla="val 5000"/>
            </a:avLst>
          </a:prstGeom>
          <a:solidFill>
            <a:srgbClr val="00281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C853"/>
                </a:solidFill>
                <a:latin typeface="Calibri"/>
              </a:defRPr>
            </a:pPr>
            <a:r>
              <a:rPr dirty="0"/>
              <a:t>•  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70328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F4F8"/>
                </a:solidFill>
                <a:latin typeface="Calibri"/>
              </a:defRPr>
            </a:pPr>
            <a:r>
              <a:rPr dirty="0" err="1"/>
              <a:t>Spatio</a:t>
            </a:r>
            <a:r>
              <a:rPr dirty="0"/>
              <a:t>-Temporal Air Pollution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60509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BCD4"/>
                </a:solidFill>
                <a:latin typeface="Calibri"/>
              </a:defRPr>
            </a:pPr>
            <a:r>
              <a:rPr dirty="0"/>
              <a:t>Spike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454869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D740"/>
                </a:solidFill>
                <a:latin typeface="Calibri"/>
              </a:defRPr>
            </a:pPr>
            <a:r>
              <a:rPr dirty="0"/>
              <a:t>in Bangladesh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8516" y="3428606"/>
            <a:ext cx="7589520" cy="851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FA8BF"/>
                </a:solidFill>
                <a:latin typeface="Calibri"/>
              </a:defRPr>
            </a:pPr>
            <a:r>
              <a:rPr sz="1600" b="1" dirty="0"/>
              <a:t>A Hybrid Data Mining Framework leveraging ST-DBSCAN Clustering, Spatial Lag Modeling (IDW), </a:t>
            </a:r>
            <a:r>
              <a:rPr sz="1600" b="1" dirty="0" err="1"/>
              <a:t>Apriori</a:t>
            </a:r>
            <a:r>
              <a:rPr sz="1600" b="1" dirty="0"/>
              <a:t> Association Rules, and Gradient Boosting to predict extreme PM₂.₅ events 1–3 hours ahead across 6 Bangladeshi cities.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20040"/>
            <a:ext cx="1602889" cy="320040"/>
          </a:xfrm>
          <a:prstGeom prst="roundRect">
            <a:avLst>
              <a:gd name="adj" fmla="val 5000"/>
            </a:avLst>
          </a:prstGeom>
          <a:solidFill>
            <a:srgbClr val="00281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C853"/>
                </a:solidFill>
                <a:latin typeface="Calibri"/>
              </a:defRPr>
            </a:pPr>
            <a:r>
              <a:rPr dirty="0"/>
              <a:t>• 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009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C853"/>
                </a:solidFill>
                <a:latin typeface="Calibri"/>
              </a:defRPr>
            </a:pPr>
            <a:r>
              <a:rPr dirty="0"/>
              <a:t>What Are We Doing?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59398" y="1325879"/>
            <a:ext cx="3291840" cy="45719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5252"/>
                </a:solidFill>
                <a:latin typeface="Calibri"/>
              </a:defRPr>
            </a:pPr>
            <a:r>
              <a:rPr dirty="0"/>
              <a:t>Problem Statement</a:t>
            </a:r>
          </a:p>
          <a:p>
            <a:pPr>
              <a:spcBef>
                <a:spcPts val="600"/>
              </a:spcBef>
              <a:defRPr sz="1200">
                <a:solidFill>
                  <a:srgbClr val="7FA8BF"/>
                </a:solidFill>
                <a:latin typeface="Calibri"/>
              </a:defRPr>
            </a:pPr>
            <a:r>
              <a:rPr dirty="0"/>
              <a:t>Standard regression models predict continuous mean pollutant levels at a single location. However, municipal health interventions require early warning systems for sudden, localized pollution surges (spikes) driven by micro-climatic shifts and neighboring emission sources. Treating spatial sensors as independent (IID) variables ignores spatial autocorrelation and wind-driven pollutant dispersion.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1247120" cy="118872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0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698480" cy="75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C853"/>
                </a:solidFill>
                <a:latin typeface="Calibri"/>
              </a:defRPr>
            </a:pPr>
            <a:r>
              <a:rPr dirty="0"/>
              <a:t>Our Objective</a:t>
            </a:r>
          </a:p>
          <a:p>
            <a:pPr>
              <a:spcBef>
                <a:spcPts val="600"/>
              </a:spcBef>
              <a:defRPr sz="1200">
                <a:solidFill>
                  <a:srgbClr val="B0C4CE"/>
                </a:solidFill>
                <a:latin typeface="Calibri"/>
              </a:defRPr>
            </a:pPr>
            <a:r>
              <a:rPr dirty="0"/>
              <a:t>Build a hybrid </a:t>
            </a:r>
            <a:r>
              <a:rPr dirty="0" err="1"/>
              <a:t>Spatio</a:t>
            </a:r>
            <a:r>
              <a:rPr dirty="0"/>
              <a:t>-Temporal Data Mining framework to predict extreme air pollution spikes (PM₂.₅ &gt; 150 µg/m³) 1–3 hours in advance across 6 major Bangladeshi cities — using Spatial Lag Modeling (IDW), Wind Vector Transformations, ST-DBSCAN Clustering, </a:t>
            </a:r>
            <a:r>
              <a:rPr dirty="0" err="1"/>
              <a:t>Apriori</a:t>
            </a:r>
            <a:r>
              <a:rPr dirty="0"/>
              <a:t> Association Rules, and SHAP Explainability.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4360" y="4709160"/>
            <a:ext cx="320040" cy="32004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4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4F8"/>
                </a:solidFill>
                <a:latin typeface="Calibri"/>
              </a:defRPr>
            </a:pPr>
            <a:r>
              <a:t>Predictive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Multi-step spike classification (t+1, t+2, t+3 hours)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572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29000" y="4709160"/>
            <a:ext cx="320040" cy="32004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424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4F8"/>
                </a:solidFill>
                <a:latin typeface="Calibri"/>
              </a:defRPr>
            </a:pPr>
            <a:r>
              <a:t>Spatial Correlation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IDW lag features across Dhaka, Chittagong, Khulna, Rajshahi, Sylhet, Barisal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572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63640" y="4709160"/>
            <a:ext cx="320040" cy="320040"/>
          </a:xfrm>
          <a:prstGeom prst="ellipse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424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4F8"/>
                </a:solidFill>
                <a:latin typeface="Calibri"/>
              </a:defRPr>
            </a:pPr>
            <a:r>
              <a:t>Pattern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ST-DBSCAN plume tracking + Apriori cross-city propagation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45720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76FF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098280" y="4709160"/>
            <a:ext cx="320040" cy="320040"/>
          </a:xfrm>
          <a:prstGeom prst="ellipse">
            <a:avLst/>
          </a:prstGeom>
          <a:solidFill>
            <a:srgbClr val="76FF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1424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7091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F4F8"/>
                </a:solidFill>
                <a:latin typeface="Calibri"/>
              </a:defRPr>
            </a:pPr>
            <a:r>
              <a:t>Model Explainability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1206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SHAP attribution — local meteorological vs. spatial transport drivers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538344" cy="320040"/>
          </a:xfrm>
          <a:prstGeom prst="roundRect">
            <a:avLst>
              <a:gd name="adj" fmla="val 5000"/>
            </a:avLst>
          </a:prstGeom>
          <a:solidFill>
            <a:srgbClr val="00281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C853"/>
                </a:solidFill>
                <a:latin typeface="Calibri"/>
              </a:defRPr>
            </a:pPr>
            <a:r>
              <a:rPr dirty="0"/>
              <a:t>•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106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C853"/>
                </a:solidFill>
                <a:latin typeface="Calibri"/>
              </a:defRPr>
            </a:pPr>
            <a:r>
              <a:rPr dirty="0"/>
              <a:t>Why Is This Problem Important?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124" y="1347396"/>
            <a:ext cx="512064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55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846320" cy="301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5252"/>
                </a:solidFill>
                <a:latin typeface="Calibri"/>
              </a:defRPr>
            </a:pPr>
            <a:r>
              <a:rPr dirty="0"/>
              <a:t>Real-World Health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Bangladesh has some of the worst air quality globally — Dhaka regularly ranks #1 most polluted city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PM₂.₅ &gt; 150 µg/m³ causes acute respiratory distress, especially in children and elderly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No real-time spike early warning system currently exists for Bangladesh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Winter brick-kiln season + fog causes multi-day hazardous episodes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WHO estimates 78,000+ premature deaths per year in Bangladesh from air pollution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004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5029200" cy="30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853"/>
                </a:solidFill>
                <a:latin typeface="Calibri"/>
              </a:defRPr>
            </a:pPr>
            <a:r>
              <a:rPr dirty="0"/>
              <a:t>Applications of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t>•  Department of Environment (DoE) can issue 1–3 hour advance health advisories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t>•  Hospitals can prepare for respiratory patient surges before they happen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t>•  City Corporations can enforce temporary traffic restrictions &amp; brick-kiln shutdowns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t>•  Schools can cancel outdoor activities before hazardous air arrives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 sz="1200" b="0">
                <a:solidFill>
                  <a:srgbClr val="7FA8BF"/>
                </a:solidFill>
                <a:latin typeface="Calibri"/>
              </a:defRPr>
            </a:pPr>
            <a:r>
              <a:t>•  Policy-makers get data-driven insights into cross-city pollution transport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8056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19" y="4640824"/>
            <a:ext cx="4341925" cy="331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BCD4"/>
                </a:solidFill>
                <a:latin typeface="Calibri"/>
              </a:defRPr>
            </a:pPr>
            <a:r>
              <a:rPr sz="2000" dirty="0"/>
              <a:t>📊  Bangladesh Dataset At-a-Glance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853"/>
                </a:solidFill>
                <a:latin typeface="Calibri"/>
              </a:defRPr>
            </a:pPr>
            <a:r>
              <a:t>239,328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A8BF"/>
                </a:solidFill>
                <a:latin typeface="Calibri"/>
              </a:defRPr>
            </a:pPr>
            <a:r>
              <a:t>Hourly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BCD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A8BF"/>
                </a:solidFill>
                <a:latin typeface="Calibri"/>
              </a:defRPr>
            </a:pPr>
            <a:r>
              <a:t>Cities / Stations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740"/>
                </a:solidFill>
                <a:latin typeface="Calibri"/>
              </a:defRPr>
            </a:pPr>
            <a:r>
              <a:t>5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A8BF"/>
                </a:solidFill>
                <a:latin typeface="Calibri"/>
              </a:defRPr>
            </a:pPr>
            <a:r>
              <a:t>2022 –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5252"/>
                </a:solidFill>
                <a:latin typeface="Calibri"/>
              </a:defRPr>
            </a:pPr>
            <a:r>
              <a:t>0.88%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FA8BF"/>
                </a:solidFill>
                <a:latin typeface="Calibri"/>
              </a:defRPr>
            </a:pPr>
            <a:r>
              <a:t>Spike Events (&gt;150)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577872" cy="320040"/>
          </a:xfrm>
          <a:prstGeom prst="roundRect">
            <a:avLst>
              <a:gd name="adj" fmla="val 5000"/>
            </a:avLst>
          </a:prstGeom>
          <a:solidFill>
            <a:srgbClr val="00281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C853"/>
                </a:solidFill>
                <a:latin typeface="Calibri"/>
              </a:defRPr>
            </a:pPr>
            <a:r>
              <a:rPr dirty="0"/>
              <a:t>•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4209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853"/>
                </a:solidFill>
                <a:latin typeface="Calibri"/>
              </a:defRPr>
            </a:pPr>
            <a:r>
              <a:rPr dirty="0"/>
              <a:t>Why Is This Not Covered by State-of-the-Art?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1325880"/>
            <a:ext cx="6585807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40727"/>
              </p:ext>
            </p:extLst>
          </p:nvPr>
        </p:nvGraphicFramePr>
        <p:xfrm>
          <a:off x="457200" y="155448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B1424"/>
                          </a:solidFill>
                          <a:latin typeface="Calibri"/>
                        </a:defRPr>
                      </a:pPr>
                      <a:r>
                        <a:rPr sz="1800" dirty="0"/>
                        <a:t>Feature Dimension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B1424"/>
                          </a:solidFill>
                          <a:latin typeface="Calibri"/>
                        </a:defRPr>
                      </a:pPr>
                      <a:r>
                        <a:rPr sz="1600" dirty="0"/>
                        <a:t>Traditional Approach  ❌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B1424"/>
                          </a:solidFill>
                          <a:latin typeface="Calibri"/>
                        </a:defRPr>
                      </a:pPr>
                      <a:r>
                        <a:rPr sz="1600" dirty="0"/>
                        <a:t>Our Proposed Pipeline  ✅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600"/>
                        <a:t>Spatial Modeling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AA6666"/>
                          </a:solidFill>
                          <a:latin typeface="Calibri"/>
                        </a:defRPr>
                      </a:pPr>
                      <a:r>
                        <a:rPr sz="1600" b="1" dirty="0">
                          <a:solidFill>
                            <a:srgbClr val="FF0000"/>
                          </a:solidFill>
                        </a:rPr>
                        <a:t>Each station analyzed in isolation (IID)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IDW Spatial Lags across all 6 cities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600"/>
                        <a:t>Wind Representation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AA6666"/>
                          </a:solidFill>
                          <a:latin typeface="Calibri"/>
                        </a:defRPr>
                      </a:pPr>
                      <a:r>
                        <a:rPr sz="1600" b="1" dirty="0">
                          <a:solidFill>
                            <a:srgbClr val="FF0000"/>
                          </a:solidFill>
                        </a:rPr>
                        <a:t>Categorical strings: "NW", "SE"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Continuous U, V velocity vector components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600"/>
                        <a:t>Pattern Discovery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AA6666"/>
                          </a:solidFill>
                          <a:latin typeface="Calibri"/>
                        </a:defRPr>
                      </a:pPr>
                      <a:r>
                        <a:rPr sz="1600" b="1" dirty="0">
                          <a:solidFill>
                            <a:srgbClr val="FF0000"/>
                          </a:solidFill>
                        </a:rPr>
                        <a:t>None — pure statistical modeling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ST-DBSCAN plume tracking + </a:t>
                      </a:r>
                      <a:r>
                        <a:rPr sz="1600" b="1" dirty="0" err="1"/>
                        <a:t>Apriori</a:t>
                      </a:r>
                      <a:r>
                        <a:rPr sz="1600" b="1" dirty="0"/>
                        <a:t> rules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600"/>
                        <a:t>Problem Formulation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AA6666"/>
                          </a:solidFill>
                          <a:latin typeface="Calibri"/>
                        </a:defRPr>
                      </a:pPr>
                      <a:r>
                        <a:rPr sz="1600" b="1" dirty="0">
                          <a:solidFill>
                            <a:srgbClr val="FF0000"/>
                          </a:solidFill>
                        </a:rPr>
                        <a:t>Continuous PM₂.₅ regression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Multi-step extreme hazard binary classification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600"/>
                        <a:t>Interpretability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AA6666"/>
                          </a:solidFill>
                          <a:latin typeface="Calibri"/>
                        </a:defRPr>
                      </a:pPr>
                      <a:r>
                        <a:rPr sz="1600" b="1" dirty="0">
                          <a:solidFill>
                            <a:srgbClr val="FF0000"/>
                          </a:solidFill>
                        </a:rPr>
                        <a:t>Black-box output value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SHAP attribution: local vs. spatial drivers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600" dirty="0"/>
                        <a:t>Bangladesh Context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AA6666"/>
                          </a:solidFill>
                          <a:latin typeface="Calibri"/>
                        </a:defRPr>
                      </a:pPr>
                      <a:r>
                        <a:rPr sz="1600" b="1" dirty="0">
                          <a:solidFill>
                            <a:srgbClr val="FF0000"/>
                          </a:solidFill>
                        </a:rPr>
                        <a:t>No prior multi-site DM study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C853"/>
                          </a:solidFill>
                          <a:latin typeface="Calibri"/>
                        </a:defRPr>
                      </a:pPr>
                      <a:r>
                        <a:rPr sz="1600" b="1" dirty="0"/>
                        <a:t>First </a:t>
                      </a:r>
                      <a:r>
                        <a:rPr sz="1600" b="1" dirty="0" err="1"/>
                        <a:t>spatio</a:t>
                      </a:r>
                      <a:r>
                        <a:rPr sz="1600" b="1" dirty="0"/>
                        <a:t>-temporal spike study for BD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76072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55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40"/>
                </a:solidFill>
                <a:latin typeface="Calibri"/>
              </a:defRPr>
            </a:pPr>
            <a:r>
              <a:rPr dirty="0"/>
              <a:t>⚠️  Key Gap: No existing study combines spatial lag modeling, wind decomposition, and unsupervised pattern mining for pollution spike forecasting in Bangladesh.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39" y="365760"/>
            <a:ext cx="1476805" cy="320040"/>
          </a:xfrm>
          <a:prstGeom prst="roundRect">
            <a:avLst>
              <a:gd name="adj" fmla="val 5000"/>
            </a:avLst>
          </a:prstGeom>
          <a:solidFill>
            <a:srgbClr val="00281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C853"/>
                </a:solidFill>
                <a:latin typeface="Calibri"/>
              </a:defRPr>
            </a:pPr>
            <a:r>
              <a:rPr dirty="0"/>
              <a:t>•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9815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C853"/>
                </a:solidFill>
                <a:latin typeface="Calibri"/>
              </a:defRPr>
            </a:pPr>
            <a:r>
              <a:rPr dirty="0"/>
              <a:t>Why Can't We Just Tweak State-of-the-Art?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1325880"/>
            <a:ext cx="6442095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24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642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F4F8"/>
                </a:solidFill>
                <a:latin typeface="Calibri"/>
              </a:defRPr>
            </a:pPr>
            <a:r>
              <a:t>Spatial Blindness Is Fundamental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Standard models treat each station independently. Simply adding another city's PM₂.₅ as a raw feature ignores distance-decay physics. We need Inverse Distance Weighting (IDW) to properly model that Dhaka is more influenced by nearby Barisal (148km) than distant Sylhet (244km).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6517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5252"/>
                </a:solidFill>
                <a:latin typeface="Calibri"/>
              </a:defRPr>
            </a:pPr>
            <a:r>
              <a:t>→  Cross-city pollutant transport follows distance-decay, not simple averaging.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39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080" y="3428999"/>
            <a:ext cx="365760" cy="365760"/>
          </a:xfrm>
          <a:prstGeom prst="ellipse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24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0156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F4F8"/>
                </a:solidFill>
                <a:latin typeface="Calibri"/>
              </a:defRPr>
            </a:pPr>
            <a:r>
              <a:t>Wind Direction ≠ Category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49039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Existing models use wind direction as a categorical feature ('NW', 'SE'). A small fix like one-hot encoding still loses the crucial information: wind is a continuous vector with both direction and magnitude. Our U/V decomposition preserves physical meaning for pollution transport modeling.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38911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40"/>
                </a:solidFill>
                <a:latin typeface="Calibri"/>
              </a:defRPr>
            </a:pPr>
            <a:r>
              <a:t>→  Wind drives pollutant dispersion — it must be treated as a continuous physical vector.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0080" y="516636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424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138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F4F8"/>
                </a:solidFill>
                <a:latin typeface="Calibri"/>
              </a:defRPr>
            </a:pPr>
            <a:r>
              <a:t>Regression ≠ Spike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4864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Standard approaches predict mean PM₂.₅ value. Even switching to classification won't work with standard accuracy because spikes are only 0.88% of data. We need: (a) a spike-specific binary target, (b) SMOTE for class rebalancing, (c) recall-optimized training, and (d) threshold tuning — a fundamentally different pipeline, not a small change.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6126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BCD4"/>
                </a:solidFill>
                <a:latin typeface="Calibri"/>
              </a:defRPr>
            </a:pPr>
            <a:r>
              <a:t>→  Extreme event detection requires a purpose-built pipeline, not parameter adjustment.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645920" cy="320040"/>
          </a:xfrm>
          <a:prstGeom prst="roundRect">
            <a:avLst>
              <a:gd name="adj" fmla="val 5000"/>
            </a:avLst>
          </a:prstGeom>
          <a:solidFill>
            <a:srgbClr val="00281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C853"/>
                </a:solidFill>
                <a:latin typeface="Calibri"/>
              </a:defRPr>
            </a:pPr>
            <a:r>
              <a:rPr dirty="0"/>
              <a:t>• 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318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C853"/>
                </a:solidFill>
                <a:latin typeface="Calibri"/>
              </a:defRPr>
            </a:pPr>
            <a:r>
              <a:rPr dirty="0"/>
              <a:t>Solution —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39" y="1325880"/>
            <a:ext cx="5055747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947771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905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C853"/>
                </a:solidFill>
                <a:latin typeface="Calibri"/>
              </a:defRPr>
            </a:pPr>
            <a:r>
              <a:rPr dirty="0"/>
              <a:t>📥  Raw Data</a:t>
            </a:r>
            <a:br>
              <a:rPr dirty="0"/>
            </a:br>
            <a:r>
              <a:rPr dirty="0"/>
              <a:t>6 Stations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76371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A8B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947771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BCD4"/>
                </a:solidFill>
                <a:latin typeface="Calibri"/>
              </a:defRPr>
            </a:pPr>
            <a:r>
              <a:t>🧹  Pre-process</a:t>
            </a:r>
            <a:br/>
            <a:r>
              <a:t>Imputation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76371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A8B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47771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905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D740"/>
                </a:solidFill>
                <a:latin typeface="Calibri"/>
              </a:defRPr>
            </a:pPr>
            <a:r>
              <a:t>⚙️  Feature Eng.</a:t>
            </a:r>
            <a:br/>
            <a:r>
              <a:t>Spatial+Temporal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176371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A8B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47771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905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5252"/>
                </a:solidFill>
                <a:latin typeface="Calibri"/>
              </a:defRPr>
            </a:pPr>
            <a:r>
              <a:t>🔍  Pattern Mining</a:t>
            </a:r>
            <a:br/>
            <a:r>
              <a:t>ST-DBSCAN+Apriori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176371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A8B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47771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9050">
            <a:solidFill>
              <a:srgbClr val="76FF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76FF03"/>
                </a:solidFill>
                <a:latin typeface="Calibri"/>
              </a:defRPr>
            </a:pPr>
            <a:r>
              <a:rPr dirty="0"/>
              <a:t>🤖  ML Model</a:t>
            </a:r>
            <a:br>
              <a:rPr dirty="0"/>
            </a:br>
            <a:r>
              <a:rPr dirty="0" err="1"/>
              <a:t>LightGBM</a:t>
            </a:r>
            <a:r>
              <a:rPr dirty="0"/>
              <a:t>/</a:t>
            </a:r>
            <a:r>
              <a:rPr dirty="0" err="1"/>
              <a:t>XGBoost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9875520" y="2176371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FA8B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1947771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9050">
            <a:solidFill>
              <a:srgbClr val="E8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8F4F8"/>
                </a:solidFill>
                <a:latin typeface="Calibri"/>
              </a:defRPr>
            </a:pPr>
            <a:r>
              <a:t>💡  SHAP</a:t>
            </a:r>
            <a:br/>
            <a:r>
              <a:t>Explainability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81159"/>
            <a:ext cx="3566160" cy="2362553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320646"/>
            <a:ext cx="3200400" cy="29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BCD4"/>
                </a:solidFill>
                <a:latin typeface="Calibri"/>
              </a:defRPr>
            </a:pPr>
            <a:r>
              <a:rPr dirty="0"/>
              <a:t>📐  Theoretical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09018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IDW Spatial Lag: w(</a:t>
            </a:r>
            <a:r>
              <a:rPr dirty="0" err="1"/>
              <a:t>i,j</a:t>
            </a:r>
            <a:r>
              <a:rPr dirty="0"/>
              <a:t>) = 1/d(</a:t>
            </a:r>
            <a:r>
              <a:rPr dirty="0" err="1"/>
              <a:t>i,j</a:t>
            </a:r>
            <a:r>
              <a:rPr dirty="0"/>
              <a:t>)²  →  Weighted pollutant influence modeling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Wind Decomposition: U = −WSPM × sin(θ),  V = −WSPM × cos(θ)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Target Binarization: Spike = 1 if PM₂.₅ &gt; 150 µg/m³ at hour </a:t>
            </a:r>
            <a:r>
              <a:rPr dirty="0" err="1"/>
              <a:t>t+k</a:t>
            </a:r>
            <a:endParaRPr dirty="0"/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Class imbalance: </a:t>
            </a:r>
            <a:r>
              <a:rPr dirty="0" err="1"/>
              <a:t>scale_pos_weight</a:t>
            </a:r>
            <a:r>
              <a:rPr dirty="0"/>
              <a:t> = </a:t>
            </a:r>
            <a:r>
              <a:rPr dirty="0" err="1"/>
              <a:t>N_normal</a:t>
            </a:r>
            <a:r>
              <a:rPr dirty="0"/>
              <a:t> / </a:t>
            </a:r>
            <a:r>
              <a:rPr dirty="0" err="1"/>
              <a:t>N_spike</a:t>
            </a:r>
            <a:r>
              <a:rPr dirty="0"/>
              <a:t> ≈ 113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281161"/>
            <a:ext cx="3566160" cy="2362554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3320646"/>
            <a:ext cx="3200400" cy="29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853"/>
                </a:solidFill>
                <a:latin typeface="Calibri"/>
              </a:defRPr>
            </a:pPr>
            <a:r>
              <a:t>⚙️  Simulation / Real Implementation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3809018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•  Python pipeline: spatial matrix, wind vectors, temporal lag extraction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•  ST-DBSCAN clustering to identify pollution plume movements across cities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•  Apriori rule mining for inter-city pollutant propagation patterns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t>•  SMOTE oversampling to rebalance training data (0.88% spike → balanced)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281160"/>
            <a:ext cx="3566160" cy="2362555"/>
          </a:xfrm>
          <a:prstGeom prst="roundRect">
            <a:avLst>
              <a:gd name="adj" fmla="val 5000"/>
            </a:avLst>
          </a:prstGeom>
          <a:solidFill>
            <a:srgbClr val="111E33"/>
          </a:solidFill>
          <a:ln w="127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38159" y="3320646"/>
            <a:ext cx="3200400" cy="29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40"/>
                </a:solidFill>
                <a:latin typeface="Calibri"/>
              </a:defRPr>
            </a:pPr>
            <a:r>
              <a:t>📊  Empirical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809018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Train &amp; compare: </a:t>
            </a:r>
            <a:r>
              <a:rPr dirty="0" err="1"/>
              <a:t>LightGBM</a:t>
            </a:r>
            <a:r>
              <a:rPr dirty="0"/>
              <a:t>, </a:t>
            </a:r>
            <a:r>
              <a:rPr dirty="0" err="1"/>
              <a:t>XGBoost</a:t>
            </a:r>
            <a:r>
              <a:rPr dirty="0"/>
              <a:t>, Extra Trees, Random Forest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3 prediction horizons: t+1, t+2, t+3 hours for each city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Evaluate via F1-Score, Recall, ROC-AUC — NOT standard accuracy</a:t>
            </a:r>
          </a:p>
          <a:p>
            <a:pPr>
              <a:spcBef>
                <a:spcPts val="100"/>
              </a:spcBef>
              <a:spcAft>
                <a:spcPts val="600"/>
              </a:spcAft>
              <a:defRPr sz="1100" b="0">
                <a:solidFill>
                  <a:srgbClr val="7FA8BF"/>
                </a:solidFill>
                <a:latin typeface="Calibri"/>
              </a:defRPr>
            </a:pPr>
            <a:r>
              <a:rPr dirty="0"/>
              <a:t>•  SHAP analysis: decompose local vs. cross-city spatial drivers per spike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1624289" cy="320040"/>
          </a:xfrm>
          <a:prstGeom prst="roundRect">
            <a:avLst>
              <a:gd name="adj" fmla="val 5000"/>
            </a:avLst>
          </a:prstGeom>
          <a:solidFill>
            <a:srgbClr val="002810"/>
          </a:solidFill>
          <a:ln w="127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C853"/>
                </a:solidFill>
                <a:latin typeface="Calibri"/>
              </a:defRPr>
            </a:pPr>
            <a:r>
              <a:rPr dirty="0"/>
              <a:t>•  BENCHMARK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84" y="995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C853"/>
                </a:solidFill>
                <a:latin typeface="Calibri"/>
              </a:defRPr>
            </a:pPr>
            <a:r>
              <a:rPr dirty="0"/>
              <a:t>Benchmark Cases for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498600"/>
            <a:ext cx="5331050" cy="45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463500"/>
              </p:ext>
            </p:extLst>
          </p:nvPr>
        </p:nvGraphicFramePr>
        <p:xfrm>
          <a:off x="548640" y="1790700"/>
          <a:ext cx="11247120" cy="3836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735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424"/>
                          </a:solidFill>
                          <a:latin typeface="Calibri"/>
                        </a:defRPr>
                      </a:pPr>
                      <a:r>
                        <a:rPr sz="1800" dirty="0"/>
                        <a:t>Benchmark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424"/>
                          </a:solidFill>
                          <a:latin typeface="Calibri"/>
                        </a:defRPr>
                      </a:pPr>
                      <a:r>
                        <a:rPr sz="1800" dirty="0"/>
                        <a:t>Description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424"/>
                          </a:solidFill>
                          <a:latin typeface="Calibri"/>
                        </a:defRPr>
                      </a:pPr>
                      <a:r>
                        <a:rPr sz="1800"/>
                        <a:t>What It Tests</a:t>
                      </a:r>
                    </a:p>
                  </a:txBody>
                  <a:tcPr>
                    <a:solidFill>
                      <a:srgbClr val="00C8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73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 dirty="0"/>
                        <a:t>Baseline 1:</a:t>
                      </a:r>
                    </a:p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 dirty="0"/>
                        <a:t>Single-Station Models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Train </a:t>
                      </a:r>
                      <a:r>
                        <a:rPr sz="1400" dirty="0" err="1"/>
                        <a:t>LightGBM</a:t>
                      </a:r>
                      <a:r>
                        <a:rPr sz="1400" dirty="0"/>
                        <a:t>/</a:t>
                      </a:r>
                      <a:r>
                        <a:rPr sz="1400" dirty="0" err="1"/>
                        <a:t>XGBoost</a:t>
                      </a:r>
                      <a:r>
                        <a:rPr sz="1400" dirty="0"/>
                        <a:t> on each city independently,</a:t>
                      </a:r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using only that city's own features (no spatial lag,</a:t>
                      </a:r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 wind vectors, no cross-city features).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Proves that spatial features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(IDW, wind decomposition)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improve spike prediction.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3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/>
                        <a:t>Baseline 2:</a:t>
                      </a:r>
                    </a:p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/>
                        <a:t>Regression → Threshold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Predict continuous PM₂.₅ value using standard</a:t>
                      </a:r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regression, then apply &gt;150 threshold to classify</a:t>
                      </a:r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spikes. No SMOTE, no class weighting.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Proves that direct binary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classification with imbalance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handling outperforms regression.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73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 dirty="0"/>
                        <a:t>Baseline 3:</a:t>
                      </a:r>
                    </a:p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 dirty="0"/>
                        <a:t>No Pattern Mining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Full spatial + temporal features, but without</a:t>
                      </a:r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ST-DBSCAN cluster features and without </a:t>
                      </a:r>
                      <a:r>
                        <a:rPr sz="1400" dirty="0" err="1"/>
                        <a:t>Apriori</a:t>
                      </a:r>
                      <a:endParaRPr sz="1400" dirty="0"/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rule-derived features.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Proves that unsupervised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pattern mining adds predictive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value to the pipeline.</a:t>
                      </a:r>
                    </a:p>
                  </a:txBody>
                  <a:tcPr>
                    <a:solidFill>
                      <a:srgbClr val="0F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735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 dirty="0"/>
                        <a:t>Baseline 4:</a:t>
                      </a:r>
                    </a:p>
                    <a:p>
                      <a:pPr>
                        <a:defRPr sz="1000" b="1">
                          <a:solidFill>
                            <a:srgbClr val="E8F4F8"/>
                          </a:solidFill>
                          <a:latin typeface="Calibri"/>
                        </a:defRPr>
                      </a:pPr>
                      <a:r>
                        <a:rPr sz="1400" dirty="0"/>
                        <a:t>Random Forest Only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Standard Random Forest without SMOTE, class</a:t>
                      </a:r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weighting, or threshold tuning — evaluated on</a:t>
                      </a:r>
                    </a:p>
                    <a:p>
                      <a:pPr>
                        <a:defRPr sz="1000">
                          <a:solidFill>
                            <a:srgbClr val="7FA8BF"/>
                          </a:solidFill>
                          <a:latin typeface="Calibri"/>
                        </a:defRPr>
                      </a:pPr>
                      <a:r>
                        <a:rPr sz="1400" dirty="0"/>
                        <a:t>accuracy only.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Demonstrates why standard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accuracy is misleading for</a:t>
                      </a:r>
                    </a:p>
                    <a:p>
                      <a:pPr>
                        <a:defRPr sz="1000">
                          <a:solidFill>
                            <a:srgbClr val="00BCD4"/>
                          </a:solidFill>
                          <a:latin typeface="Calibri"/>
                        </a:defRPr>
                      </a:pPr>
                      <a:r>
                        <a:rPr sz="1400" dirty="0"/>
                        <a:t>imbalanced spike data (0.88%).</a:t>
                      </a:r>
                    </a:p>
                  </a:txBody>
                  <a:tcPr>
                    <a:solidFill>
                      <a:srgbClr val="11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155663" y="3429000"/>
            <a:ext cx="5880673" cy="526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853"/>
                </a:solidFill>
                <a:latin typeface="Calibri"/>
              </a:defRPr>
            </a:pPr>
            <a:r>
              <a:rPr lang="en-US" sz="8000" dirty="0"/>
              <a:t>Thank You</a:t>
            </a:r>
            <a:endParaRPr sz="8000" dirty="0"/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A7A95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1207</Words>
  <Application>Microsoft Office PowerPoint</Application>
  <PresentationFormat>Widescreen</PresentationFormat>
  <Paragraphs>153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BORHAN UDDIN</dc:creator>
  <cp:keywords/>
  <dc:description>generated using python-pptx</dc:description>
  <cp:lastModifiedBy>Borhan Uddin</cp:lastModifiedBy>
  <cp:revision>2</cp:revision>
  <dcterms:created xsi:type="dcterms:W3CDTF">2013-01-27T09:14:16Z</dcterms:created>
  <dcterms:modified xsi:type="dcterms:W3CDTF">2026-07-27T21:37:13Z</dcterms:modified>
  <cp:category/>
</cp:coreProperties>
</file>